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End‑to‑End Conceptual ML Architecture (Feasibility Level)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828800"/>
            <a:ext cx="1554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Sources</a:t>
            </a:r>
          </a:p>
          <a:p>
            <a:r>
              <a:t>(Properties, Users,</a:t>
            </a:r>
          </a:p>
          <a:p>
            <a:r>
              <a:t>Inquiries, Prices, Agents)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1828800"/>
            <a:ext cx="1554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Engineering</a:t>
            </a:r>
          </a:p>
          <a:p>
            <a:r>
              <a:t>(Data Cleaning,</a:t>
            </a:r>
          </a:p>
          <a:p>
            <a:r>
              <a:t>Storage, Pipelines)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828800"/>
            <a:ext cx="1554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Analytics Layer</a:t>
            </a:r>
          </a:p>
          <a:p>
            <a:r>
              <a:t>(Star Schema,</a:t>
            </a:r>
          </a:p>
          <a:p>
            <a:r>
              <a:t>KPIs, Validation)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828800"/>
            <a:ext cx="1554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Feature Layer</a:t>
            </a:r>
          </a:p>
          <a:p>
            <a:r>
              <a:t>(Feature Engineering</a:t>
            </a:r>
          </a:p>
          <a:p>
            <a:r>
              <a:t>&amp; Aggregations)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1554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 Models</a:t>
            </a:r>
          </a:p>
          <a:p>
            <a:r>
              <a:t>(Baseline Models</a:t>
            </a:r>
          </a:p>
          <a:p>
            <a:r>
              <a:t>Regression / Trees)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1554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Evaluation</a:t>
            </a:r>
          </a:p>
          <a:p>
            <a:r>
              <a:t>(RMSE, R²,</a:t>
            </a:r>
          </a:p>
          <a:p>
            <a:r>
              <a:t>Precision/Recall)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9840" y="1828800"/>
            <a:ext cx="15544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Business Insights</a:t>
            </a:r>
          </a:p>
          <a:p>
            <a:r>
              <a:t>(Dashboards &amp;</a:t>
            </a:r>
          </a:p>
          <a:p>
            <a:r>
              <a:t>Decision Support)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